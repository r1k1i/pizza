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5996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6B0A0A"/>
          </a:solidFill>
          <a:ln w="12700">
            <a:solidFill>
              <a:srgbClr val="6B0A0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474720" cy="91440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274320" y="457200"/>
            <a:ext cx="2926080" cy="2926080"/>
          </a:xfrm>
          <a:prstGeom prst="ellipse">
            <a:avLst/>
          </a:prstGeom>
          <a:solidFill>
            <a:srgbClr val="1A0505"/>
          </a:solidFill>
          <a:ln w="254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137160" y="35661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PIZZERIA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VESUV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749040" y="9144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Pizzeria Vesuv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3749040" y="1965960"/>
            <a:ext cx="2194560" cy="45720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3749040" y="21488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Reservierungs- und Abrechnungssystem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49040" y="27432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Entwicklung einer C# Anwendung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SQL-Datenbankanbindung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749040" y="3749040"/>
            <a:ext cx="5120640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5A121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3749040" y="376732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Lauin  ·  Rijad  ·  Artmir  ·  Zana</a:t>
            </a:r>
            <a:endParaRPr 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D93C2BE-4B6A-8192-CE4B-192A9B7E1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502920"/>
            <a:ext cx="2834640" cy="283464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6B0A0A"/>
          </a:solidFill>
          <a:ln w="12700">
            <a:solidFill>
              <a:srgbClr val="6B0A0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Projektteam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914400" cy="36576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8732520" y="48920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160520" cy="160020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64008" cy="1600200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530352" y="1389888"/>
            <a:ext cx="685800" cy="6858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530352" y="13898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11704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Artmir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16642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Projektleitung, PSP &amp; Vorgangsliste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160520" cy="160020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64008" cy="1600200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4919472" y="1389888"/>
            <a:ext cx="685800" cy="6858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4919472" y="13898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715000" y="11704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Rijad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715000" y="16642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Datenbank-Architekt (ERM, SQL &amp; Datenmodellierung)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880360"/>
            <a:ext cx="4160520" cy="160020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0" name="Shape 18"/>
          <p:cNvSpPr/>
          <p:nvPr/>
        </p:nvSpPr>
        <p:spPr>
          <a:xfrm>
            <a:off x="365760" y="2880360"/>
            <a:ext cx="64008" cy="1600200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>
            <a:off x="530352" y="3264408"/>
            <a:ext cx="685800" cy="6858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530352" y="32644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25880" y="30449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Lauin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25880" y="353872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Developer (C# &amp; Windows Forms)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2880360"/>
            <a:ext cx="4160520" cy="160020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6" name="Shape 24"/>
          <p:cNvSpPr/>
          <p:nvPr/>
        </p:nvSpPr>
        <p:spPr>
          <a:xfrm>
            <a:off x="4754880" y="2880360"/>
            <a:ext cx="64008" cy="1600200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Shape 25"/>
          <p:cNvSpPr/>
          <p:nvPr/>
        </p:nvSpPr>
        <p:spPr>
          <a:xfrm>
            <a:off x="4919472" y="3264408"/>
            <a:ext cx="685800" cy="6858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4919472" y="32644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715000" y="30449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Zana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715000" y="353872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Dokumentation, MS Project &amp; Präsentationsdesign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6B0A0A"/>
          </a:solidFill>
          <a:ln w="12700">
            <a:solidFill>
              <a:srgbClr val="6B0A0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Gliederung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914400" cy="36576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8732520" y="48920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206240" cy="100584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Shape 6"/>
          <p:cNvSpPr/>
          <p:nvPr/>
        </p:nvSpPr>
        <p:spPr>
          <a:xfrm>
            <a:off x="429768" y="1005840"/>
            <a:ext cx="64008" cy="1005840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566928" y="10972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8872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Projektplanung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15361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 &amp; Zeitplan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4206240" cy="100584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>
            <a:off x="429768" y="2240280"/>
            <a:ext cx="64008" cy="1005840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566928" y="2331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88720" y="2331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Datenbank-Design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27706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 &amp; Struktur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474720"/>
            <a:ext cx="4206240" cy="100584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8" name="Shape 16"/>
          <p:cNvSpPr/>
          <p:nvPr/>
        </p:nvSpPr>
        <p:spPr>
          <a:xfrm>
            <a:off x="429768" y="3474720"/>
            <a:ext cx="64008" cy="1005840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566928" y="35661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88720" y="3566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Software-Architektur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40050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Programmierung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1005840"/>
            <a:ext cx="4206240" cy="100584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3" name="Shape 21"/>
          <p:cNvSpPr/>
          <p:nvPr/>
        </p:nvSpPr>
        <p:spPr>
          <a:xfrm>
            <a:off x="4910328" y="1005840"/>
            <a:ext cx="64008" cy="1005840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5047488" y="10972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66928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Wirtschaftlichkeitsanalyse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669280" y="15361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Nutzwertanalyse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2240280"/>
            <a:ext cx="4206240" cy="100584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8" name="Shape 26"/>
          <p:cNvSpPr/>
          <p:nvPr/>
        </p:nvSpPr>
        <p:spPr>
          <a:xfrm>
            <a:off x="4910328" y="2240280"/>
            <a:ext cx="64008" cy="1005840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Text 27"/>
          <p:cNvSpPr/>
          <p:nvPr/>
        </p:nvSpPr>
        <p:spPr>
          <a:xfrm>
            <a:off x="5047488" y="2331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669280" y="2331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Fazit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669280" y="27706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Ausblick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B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4A0808"/>
          </a:solidFill>
          <a:ln w="12700">
            <a:solidFill>
              <a:srgbClr val="4A080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1097280" y="1645920"/>
            <a:ext cx="73152" cy="1828800"/>
          </a:xfrm>
          <a:prstGeom prst="rect">
            <a:avLst/>
          </a:prstGeom>
          <a:solidFill>
            <a:srgbClr val="FAE8E8"/>
          </a:solidFill>
          <a:ln w="12700">
            <a:solidFill>
              <a:srgbClr val="FAE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137160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SEKTION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21031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Projektmanagement</a:t>
            </a:r>
            <a:endParaRPr lang="en-US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6B0A0A"/>
          </a:solidFill>
          <a:ln w="12700">
            <a:solidFill>
              <a:srgbClr val="6B0A0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Projektstrukturplan (PSP)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914400" cy="36576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8732520" y="48920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8229600" cy="64008"/>
          </a:xfrm>
          <a:prstGeom prst="rect">
            <a:avLst/>
          </a:prstGeom>
          <a:solidFill>
            <a:srgbClr val="3D0E0E"/>
          </a:solidFill>
          <a:ln w="12700">
            <a:solidFill>
              <a:srgbClr val="3D0E0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1828800" cy="150876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457200" y="960120"/>
            <a:ext cx="1828800" cy="64008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Planung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965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Strukturierung, Vorgangsliste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34440" y="2551176"/>
            <a:ext cx="201168" cy="201168"/>
          </a:xfrm>
          <a:prstGeom prst="ellipse">
            <a:avLst/>
          </a:prstGeom>
          <a:solidFill>
            <a:srgbClr val="C41A1A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2514600" y="960120"/>
            <a:ext cx="1828800" cy="150876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2514600" y="960120"/>
            <a:ext cx="1828800" cy="64008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2606040" y="1097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606040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Datenbank-Entwurf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06040" y="1965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ERM, Schema, SQL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2551176"/>
            <a:ext cx="201168" cy="201168"/>
          </a:xfrm>
          <a:prstGeom prst="ellipse">
            <a:avLst/>
          </a:prstGeom>
          <a:solidFill>
            <a:srgbClr val="C41A1A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Shape 18"/>
          <p:cNvSpPr/>
          <p:nvPr/>
        </p:nvSpPr>
        <p:spPr>
          <a:xfrm>
            <a:off x="4572000" y="960120"/>
            <a:ext cx="1828800" cy="150876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>
            <a:off x="4572000" y="960120"/>
            <a:ext cx="1828800" cy="64008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4663440" y="1097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63440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Programmierung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1965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C#, UI, Logik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49240" y="2551176"/>
            <a:ext cx="201168" cy="201168"/>
          </a:xfrm>
          <a:prstGeom prst="ellipse">
            <a:avLst/>
          </a:prstGeom>
          <a:solidFill>
            <a:srgbClr val="C41A1A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Shape 24"/>
          <p:cNvSpPr/>
          <p:nvPr/>
        </p:nvSpPr>
        <p:spPr>
          <a:xfrm>
            <a:off x="6629400" y="960120"/>
            <a:ext cx="1828800" cy="150876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7" name="Shape 25"/>
          <p:cNvSpPr/>
          <p:nvPr/>
        </p:nvSpPr>
        <p:spPr>
          <a:xfrm>
            <a:off x="6629400" y="960120"/>
            <a:ext cx="1828800" cy="64008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6720840" y="1097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720840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20840" y="1965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Dokumentation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06640" y="2551176"/>
            <a:ext cx="201168" cy="201168"/>
          </a:xfrm>
          <a:prstGeom prst="ellipse">
            <a:avLst/>
          </a:prstGeom>
          <a:solidFill>
            <a:srgbClr val="C41A1A"/>
          </a:solidFill>
          <a:ln w="12700">
            <a:solidFill>
              <a:srgbClr val="E05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Text 30"/>
          <p:cNvSpPr/>
          <p:nvPr/>
        </p:nvSpPr>
        <p:spPr>
          <a:xfrm>
            <a:off x="320040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Projektverlauf →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063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Anforderungen</a:t>
            </a:r>
            <a:r>
              <a:rPr lang="en-US" sz="105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PSP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514600" y="3063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 &amp; SQL-Skripte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0" y="3063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Forms UI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629400" y="3063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Go-Live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6B0A0A"/>
          </a:solidFill>
          <a:ln w="12700">
            <a:solidFill>
              <a:srgbClr val="6B0A0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Zeitplanung &amp; Meilensteine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914400" cy="36576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8732520" y="48920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457200" cy="457200"/>
          </a:xfrm>
          <a:prstGeom prst="ellipse">
            <a:avLst/>
          </a:prstGeom>
          <a:solidFill>
            <a:srgbClr val="8B1A1A"/>
          </a:solidFill>
          <a:ln w="1905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21208" y="1508760"/>
            <a:ext cx="45720" cy="502920"/>
          </a:xfrm>
          <a:prstGeom prst="rect">
            <a:avLst/>
          </a:prstGeom>
          <a:solidFill>
            <a:srgbClr val="3D0E0E"/>
          </a:solidFill>
          <a:ln w="12700">
            <a:solidFill>
              <a:srgbClr val="3D0E0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960120" y="1005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Projektstart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139903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Anforderungsanalyse &amp; Stakeholder-Interviews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15819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PSP-Erstellung durch Artmir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17647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Technologie-Stack: C#, MySQL, Visual Studio 2019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057400"/>
            <a:ext cx="457200" cy="457200"/>
          </a:xfrm>
          <a:prstGeom prst="ellipse">
            <a:avLst/>
          </a:prstGeom>
          <a:solidFill>
            <a:srgbClr val="8B1A1A"/>
          </a:solidFill>
          <a:ln w="1905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3200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21208" y="2514600"/>
            <a:ext cx="45720" cy="502920"/>
          </a:xfrm>
          <a:prstGeom prst="rect">
            <a:avLst/>
          </a:prstGeom>
          <a:solidFill>
            <a:srgbClr val="3D0E0E"/>
          </a:solidFill>
          <a:ln w="12700">
            <a:solidFill>
              <a:srgbClr val="3D0E0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960120" y="2011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Datenbank</a:t>
            </a:r>
            <a:r>
              <a:rPr lang="en-US" sz="135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4048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ER-Modell mit 5 Hauptentitäten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5877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Relationales Schema mit PK/FK-Strukturen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277063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MySQL-Skripte für 35 Tische &amp; 4 tägliche Slots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063240"/>
            <a:ext cx="457200" cy="457200"/>
          </a:xfrm>
          <a:prstGeom prst="ellipse">
            <a:avLst/>
          </a:prstGeom>
          <a:solidFill>
            <a:srgbClr val="8B1A1A"/>
          </a:solidFill>
          <a:ln w="1905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3200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21208" y="3520440"/>
            <a:ext cx="45720" cy="502920"/>
          </a:xfrm>
          <a:prstGeom prst="rect">
            <a:avLst/>
          </a:prstGeom>
          <a:solidFill>
            <a:srgbClr val="3D0E0E"/>
          </a:solidFill>
          <a:ln w="12700">
            <a:solidFill>
              <a:srgbClr val="3D0E0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96012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UI-</a:t>
            </a:r>
            <a:r>
              <a:rPr lang="en-US" sz="1350" b="1" dirty="0" err="1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Programmierung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60120" y="34107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Login-System mit Passwortschutz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35935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Stammdatenverwaltung (Gäste, Mitarbeiter, Speisen)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37764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Reservierungsmodul mit Verfügbarkeitsprüfung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069080"/>
            <a:ext cx="457200" cy="457200"/>
          </a:xfrm>
          <a:prstGeom prst="ellipse">
            <a:avLst/>
          </a:prstGeom>
          <a:solidFill>
            <a:srgbClr val="8B1A1A"/>
          </a:solidFill>
          <a:ln w="1905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Text 27"/>
          <p:cNvSpPr/>
          <p:nvPr/>
        </p:nvSpPr>
        <p:spPr>
          <a:xfrm>
            <a:off x="3200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0120" y="4023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System-Integration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60120" y="44165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Datenvalidierung &amp; Plausibilitätsprüfungen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" y="459943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Abrechnungssystem &amp; Reporting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0120" y="47823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Bugfixing, Go-Live &amp; Schulung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B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4A0808"/>
          </a:solidFill>
          <a:ln w="12700">
            <a:solidFill>
              <a:srgbClr val="4A080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1097280" y="1645920"/>
            <a:ext cx="73152" cy="1828800"/>
          </a:xfrm>
          <a:prstGeom prst="rect">
            <a:avLst/>
          </a:prstGeom>
          <a:solidFill>
            <a:srgbClr val="FAE8E8"/>
          </a:solidFill>
          <a:ln w="12700">
            <a:solidFill>
              <a:srgbClr val="FAE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137160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SEKTION 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21031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Datenbank-Design</a:t>
            </a:r>
            <a:endParaRPr lang="en-US" sz="4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6B0A0A"/>
          </a:solidFill>
          <a:ln w="12700">
            <a:solidFill>
              <a:srgbClr val="6B0A0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ER-Modell (ERM)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914400" cy="36576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8732520" y="48920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2286000" cy="173736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2286000" cy="384048"/>
          </a:xfrm>
          <a:prstGeom prst="rect">
            <a:avLst/>
          </a:prstGeom>
          <a:solidFill>
            <a:srgbClr val="8B1A1A"/>
          </a:solidFill>
          <a:ln w="12700">
            <a:solidFill>
              <a:srgbClr val="5A121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320040" y="978408"/>
            <a:ext cx="22860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4173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GastID (PK)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Vorname, Nachname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960120"/>
            <a:ext cx="2286000" cy="173736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2" name="Shape 10"/>
          <p:cNvSpPr/>
          <p:nvPr/>
        </p:nvSpPr>
        <p:spPr>
          <a:xfrm>
            <a:off x="3337560" y="960120"/>
            <a:ext cx="2286000" cy="384048"/>
          </a:xfrm>
          <a:prstGeom prst="rect">
            <a:avLst/>
          </a:prstGeom>
          <a:solidFill>
            <a:srgbClr val="8B1A1A"/>
          </a:solidFill>
          <a:ln w="12700">
            <a:solidFill>
              <a:srgbClr val="5A121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3337560" y="978408"/>
            <a:ext cx="22860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Reservierung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14173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ReservierungsID (PK)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GastID (FK), TischID (FK)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1–4, Status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92240" y="960120"/>
            <a:ext cx="2286000" cy="173736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6" name="Shape 14"/>
          <p:cNvSpPr/>
          <p:nvPr/>
        </p:nvSpPr>
        <p:spPr>
          <a:xfrm>
            <a:off x="6492240" y="960120"/>
            <a:ext cx="2286000" cy="384048"/>
          </a:xfrm>
          <a:prstGeom prst="rect">
            <a:avLst/>
          </a:prstGeom>
          <a:solidFill>
            <a:srgbClr val="8B1A1A"/>
          </a:solidFill>
          <a:ln w="12700">
            <a:solidFill>
              <a:srgbClr val="5A121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6492240" y="978408"/>
            <a:ext cx="22860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Tisch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14173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TischID (PK)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Kapazität (2–10)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Tische, 5 Bereiche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246120"/>
            <a:ext cx="2286000" cy="173736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0" name="Shape 18"/>
          <p:cNvSpPr/>
          <p:nvPr/>
        </p:nvSpPr>
        <p:spPr>
          <a:xfrm>
            <a:off x="320040" y="3246120"/>
            <a:ext cx="2286000" cy="384048"/>
          </a:xfrm>
          <a:prstGeom prst="rect">
            <a:avLst/>
          </a:prstGeom>
          <a:solidFill>
            <a:srgbClr val="8B1A1A"/>
          </a:solidFill>
          <a:ln w="12700">
            <a:solidFill>
              <a:srgbClr val="5A121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320040" y="3264408"/>
            <a:ext cx="22860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Mitarbeiter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37033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MitarbeiterID (PK)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Rolle, Passwort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Rollen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92240" y="3246120"/>
            <a:ext cx="2286000" cy="173736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4" name="Shape 22"/>
          <p:cNvSpPr/>
          <p:nvPr/>
        </p:nvSpPr>
        <p:spPr>
          <a:xfrm>
            <a:off x="6492240" y="3246120"/>
            <a:ext cx="2286000" cy="384048"/>
          </a:xfrm>
          <a:prstGeom prst="rect">
            <a:avLst/>
          </a:prstGeom>
          <a:solidFill>
            <a:srgbClr val="8B1A1A"/>
          </a:solidFill>
          <a:ln w="12700">
            <a:solidFill>
              <a:srgbClr val="5A121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6492240" y="3264408"/>
            <a:ext cx="22860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Speise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0" y="37033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SpeiseID (PK)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Preis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Gerichte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37560" y="3246120"/>
            <a:ext cx="2926080" cy="1737360"/>
          </a:xfrm>
          <a:prstGeom prst="rect">
            <a:avLst/>
          </a:prstGeom>
          <a:solidFill>
            <a:srgbClr val="120505"/>
          </a:solidFill>
          <a:ln w="12700">
            <a:solidFill>
              <a:srgbClr val="3D0E0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342900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Beziehungen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29000" y="37033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Gast 1:n → Reservierung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429000" y="394106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Reservierung n:1 → Tisch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29000" y="41788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Mitarbeiter 1:n → Bestellungen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429000" y="44165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Bestellung m:n → Speise / Getränk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429000" y="46542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4 Slots/Tag · 9 Tabellen · 5 Views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6B0A0A"/>
          </a:solidFill>
          <a:ln w="12700">
            <a:solidFill>
              <a:srgbClr val="6B0A0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Relationales Schema &amp; SQL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914400" cy="36576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8732520" y="48920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114800" cy="160020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4114800" cy="64008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548640" y="1188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Primärschlüssel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Eindeutige Identifikation je Entität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114800" cy="160020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114800" cy="64008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4937760" y="1188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Fremdschlüssel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937760" y="17373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Verknüpfung zwischen Tabellen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4114800" cy="160020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4114800" cy="64008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548640" y="3108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 Delete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8640" y="36576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Löschkennzeichen für Datensicherheit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114800" cy="160020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4114800" cy="64008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4937760" y="3108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937760" y="36576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Optimierte Struktur für schnelle Queries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B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4A0808"/>
          </a:solidFill>
          <a:ln w="12700">
            <a:solidFill>
              <a:srgbClr val="4A080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1097280" y="1645920"/>
            <a:ext cx="73152" cy="1828800"/>
          </a:xfrm>
          <a:prstGeom prst="rect">
            <a:avLst/>
          </a:prstGeom>
          <a:solidFill>
            <a:srgbClr val="FAE8E8"/>
          </a:solidFill>
          <a:ln w="12700">
            <a:solidFill>
              <a:srgbClr val="FAE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137160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SEKTION 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21031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Software-Architektur</a:t>
            </a:r>
            <a:endParaRPr lang="en-US" sz="4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6B0A0A"/>
          </a:solidFill>
          <a:ln w="12700">
            <a:solidFill>
              <a:srgbClr val="6B0A0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Software-Architektur: C# Windows Forms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914400" cy="36576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8732520" y="48920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Technologie-Stack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4023360" cy="64008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64008" cy="640080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548640" y="153619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1536192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A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(.NET Framework 4.7.2)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4023360" cy="64008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64008" cy="640080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548640" y="231343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54480" y="2313432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A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Forms (WinForms)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4023360" cy="64008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64008" cy="640080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548640" y="309067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3090672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A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(Workbench &amp; Connector/NET)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4023360" cy="64008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>
            <a:off x="365760" y="3794760"/>
            <a:ext cx="64008" cy="640080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548640" y="386791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54480" y="3867912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A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2019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Schichtenarchitektur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754880" y="1463040"/>
            <a:ext cx="4023360" cy="658368"/>
          </a:xfrm>
          <a:prstGeom prst="rect">
            <a:avLst/>
          </a:prstGeom>
          <a:solidFill>
            <a:srgbClr val="C41A1A"/>
          </a:solidFill>
          <a:ln w="12700">
            <a:solidFill>
              <a:srgbClr val="5A121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4892040" y="15087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35040" y="15087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Forms – Benutzeroberfläche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2286000"/>
            <a:ext cx="3840480" cy="658368"/>
          </a:xfrm>
          <a:prstGeom prst="rect">
            <a:avLst/>
          </a:prstGeom>
          <a:solidFill>
            <a:srgbClr val="8B1A1A"/>
          </a:solidFill>
          <a:ln w="12700">
            <a:solidFill>
              <a:srgbClr val="5A121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Text 27"/>
          <p:cNvSpPr/>
          <p:nvPr/>
        </p:nvSpPr>
        <p:spPr>
          <a:xfrm>
            <a:off x="4983480" y="23317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26480" y="23317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Geschäftslogik &amp; Validierung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37760" y="3108960"/>
            <a:ext cx="3657600" cy="658368"/>
          </a:xfrm>
          <a:prstGeom prst="rect">
            <a:avLst/>
          </a:prstGeom>
          <a:solidFill>
            <a:srgbClr val="6B0A0A"/>
          </a:solidFill>
          <a:ln w="12700">
            <a:solidFill>
              <a:srgbClr val="5A121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Text 30"/>
          <p:cNvSpPr/>
          <p:nvPr/>
        </p:nvSpPr>
        <p:spPr>
          <a:xfrm>
            <a:off x="5074920" y="31546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31546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Datenstrukturen &amp; Entitäten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0" y="3931920"/>
            <a:ext cx="3474720" cy="658368"/>
          </a:xfrm>
          <a:prstGeom prst="rect">
            <a:avLst/>
          </a:prstGeom>
          <a:solidFill>
            <a:srgbClr val="3D0505"/>
          </a:solidFill>
          <a:ln w="12700">
            <a:solidFill>
              <a:srgbClr val="5A121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Text 33"/>
          <p:cNvSpPr/>
          <p:nvPr/>
        </p:nvSpPr>
        <p:spPr>
          <a:xfrm>
            <a:off x="5166360" y="397764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09360" y="39776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via Connector/NET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6B0A0A"/>
          </a:solidFill>
          <a:ln w="12700">
            <a:solidFill>
              <a:srgbClr val="6B0A0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Stammdaten, Reservierung &amp; Tischlogik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914400" cy="36576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8732520" y="48920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1965960" cy="118872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32688" y="10515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Gäste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148132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Erfassung mit Kontaktdaten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960120"/>
            <a:ext cx="1965960" cy="118872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2450592" y="10058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108960" y="10515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Mitarbeiter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148132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Rollen &amp; 5 Bereiche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960120"/>
            <a:ext cx="1965960" cy="118872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4626864" y="10058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🍽️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285232" y="10515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Speisen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85232" y="148132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Gerichte (2,50–10,50€)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03136" y="960120"/>
            <a:ext cx="1965960" cy="118872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6803136" y="10058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🥤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461504" y="10515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Getränke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61504" y="148132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Getränke, 6 Kategorien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331720"/>
            <a:ext cx="841248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5A121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457200" y="235000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A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Plausibilitätsprüfungen: Pflichtfelder  ·  Telefonnummern-Validierung  ·  Automatische Preislade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Reservierungs- &amp; Tischlogik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3383280"/>
            <a:ext cx="2560320" cy="137160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457200" y="342900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4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1783080" y="352044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Tische gesamt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(2–10 Personen)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0" y="3383280"/>
            <a:ext cx="2560320" cy="137160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3291840" y="342900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4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4617720" y="352044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täglich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(11–22 Uhr)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035040" y="3383280"/>
            <a:ext cx="2560320" cy="137160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3" name="Text 31"/>
          <p:cNvSpPr/>
          <p:nvPr/>
        </p:nvSpPr>
        <p:spPr>
          <a:xfrm>
            <a:off x="6126480" y="342900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4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140</a:t>
            </a:r>
            <a:endParaRPr lang="en-US" sz="4000" dirty="0"/>
          </a:p>
        </p:txBody>
      </p:sp>
      <p:sp>
        <p:nvSpPr>
          <p:cNvPr id="34" name="Text 32"/>
          <p:cNvSpPr/>
          <p:nvPr/>
        </p:nvSpPr>
        <p:spPr>
          <a:xfrm>
            <a:off x="7452360" y="352044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Max. Reservierungen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Tag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6B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4A0808"/>
          </a:solidFill>
          <a:ln w="12700">
            <a:solidFill>
              <a:srgbClr val="4A080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1097280" y="1645920"/>
            <a:ext cx="73152" cy="1828800"/>
          </a:xfrm>
          <a:prstGeom prst="rect">
            <a:avLst/>
          </a:prstGeom>
          <a:solidFill>
            <a:srgbClr val="FAE8E8"/>
          </a:solidFill>
          <a:ln w="12700">
            <a:solidFill>
              <a:srgbClr val="FAE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137160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SEKTION 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21031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Wirtschaftlichkeit &amp; Abschluss</a:t>
            </a:r>
            <a:endParaRPr lang="en-US" sz="4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6B0A0A"/>
          </a:solidFill>
          <a:ln w="12700">
            <a:solidFill>
              <a:srgbClr val="6B0A0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Kostenübersicht &amp; Amortisationsrechnung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914400" cy="36576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8732520" y="48920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1920240" cy="123444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1920240" cy="54864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411480" y="10241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9.026 $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16276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Gesamtkosten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(einmalig)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960120"/>
            <a:ext cx="1920240" cy="123444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2" name="Shape 10"/>
          <p:cNvSpPr/>
          <p:nvPr/>
        </p:nvSpPr>
        <p:spPr>
          <a:xfrm>
            <a:off x="2468880" y="960120"/>
            <a:ext cx="1920240" cy="54864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2560320" y="10241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335,83 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60320" y="16276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Gesamtarbeit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stunden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960120"/>
            <a:ext cx="1920240" cy="123444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6" name="Shape 14"/>
          <p:cNvSpPr/>
          <p:nvPr/>
        </p:nvSpPr>
        <p:spPr>
          <a:xfrm>
            <a:off x="4617720" y="960120"/>
            <a:ext cx="1920240" cy="54864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4709160" y="10241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19,65 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09160" y="16276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laufzeit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960120"/>
            <a:ext cx="1920240" cy="123444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0" name="Shape 18"/>
          <p:cNvSpPr/>
          <p:nvPr/>
        </p:nvSpPr>
        <p:spPr>
          <a:xfrm>
            <a:off x="6766560" y="960120"/>
            <a:ext cx="1920240" cy="54864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6858000" y="10241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20–30 €/h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58000" y="16276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Durchschnitt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359152"/>
            <a:ext cx="4251960" cy="2487168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4" name="Shape 22"/>
          <p:cNvSpPr/>
          <p:nvPr/>
        </p:nvSpPr>
        <p:spPr>
          <a:xfrm>
            <a:off x="320040" y="2359152"/>
            <a:ext cx="64008" cy="2487168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502920" y="24231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Amortisationsrechnung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290779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Formel: Investition ÷ Monatliche Einsparung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33832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Investition: 9.026,02 $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38587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Zeitersparnis: 45 h/Monat × 20 $/h = 900 $/Monat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433425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9.026,02 $ ÷ 900 $ = 10,03 Monate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02920" y="4480560"/>
            <a:ext cx="3931920" cy="2743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Text 29"/>
          <p:cNvSpPr/>
          <p:nvPr/>
        </p:nvSpPr>
        <p:spPr>
          <a:xfrm>
            <a:off x="502920" y="4480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Amortisation nach ca. 10 Monaten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2359152"/>
            <a:ext cx="4069080" cy="2487168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3" name="Shape 31"/>
          <p:cNvSpPr/>
          <p:nvPr/>
        </p:nvSpPr>
        <p:spPr>
          <a:xfrm>
            <a:off x="4754880" y="2359152"/>
            <a:ext cx="64008" cy="2487168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Text 32"/>
          <p:cNvSpPr/>
          <p:nvPr/>
        </p:nvSpPr>
        <p:spPr>
          <a:xfrm>
            <a:off x="4937760" y="24231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Kosten-Nutzen (3 Jahre)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937760" y="29077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Projektumsetzung (einmalig):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06640" y="29077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9.026,02 $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37760" y="3291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Wartung &amp; Lizenzen (36 Mon.):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06640" y="32918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500,00 $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37760" y="36758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Einsparung Arbeitszeit (36 Mon.):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06640" y="36758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32.400,00 $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37760" y="40599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Netto-Nutzen (3 Jahre):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406640" y="405993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4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22.873,98 $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937760" y="4480560"/>
            <a:ext cx="3749040" cy="2743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4" name="Text 42"/>
          <p:cNvSpPr/>
          <p:nvPr/>
        </p:nvSpPr>
        <p:spPr>
          <a:xfrm>
            <a:off x="4937760" y="4480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3,40 — jeder investierte $ bringt 3,40 $ Nutzen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6B0A0A"/>
          </a:solidFill>
          <a:ln w="12700">
            <a:solidFill>
              <a:srgbClr val="6B0A0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Nutzwertanalyse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914400" cy="36576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8732520" y="48920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14b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0175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AE8E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Kriterium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AE8E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Gewichtung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AE8E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Eigenbau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AE8E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Fremdlösung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Reservierung/Abrechnung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8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8A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8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4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8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8A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Umsatzanalyse (Gast/Mitarbeiter/Tisch)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8A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4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8A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Benutzeroberfläche (Intuitiv)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8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8A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8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4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8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8A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Laufende Kosten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8A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4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8A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AE8E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Gesamtpunktwert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AE8E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100%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4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9,35 / 10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8A0A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5,75 / 10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160520"/>
            <a:ext cx="2560320" cy="77724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Text 6"/>
          <p:cNvSpPr/>
          <p:nvPr/>
        </p:nvSpPr>
        <p:spPr>
          <a:xfrm>
            <a:off x="502920" y="4187952"/>
            <a:ext cx="10972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9,35 / 10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691640" y="4206240"/>
            <a:ext cx="1143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Eigenbau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Gesamtpunktwert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4160520"/>
            <a:ext cx="2560320" cy="77724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2" name="Text 9"/>
          <p:cNvSpPr/>
          <p:nvPr/>
        </p:nvSpPr>
        <p:spPr>
          <a:xfrm>
            <a:off x="3337560" y="4187952"/>
            <a:ext cx="10972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A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5,75 / 10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526280" y="4206240"/>
            <a:ext cx="1143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Fremdlösung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Gesamtpunktwert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4160520"/>
            <a:ext cx="2560320" cy="77724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5" name="Text 12"/>
          <p:cNvSpPr/>
          <p:nvPr/>
        </p:nvSpPr>
        <p:spPr>
          <a:xfrm>
            <a:off x="6172200" y="4187952"/>
            <a:ext cx="10972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+3,60 Pkt</a:t>
            </a:r>
            <a:endParaRPr lang="en-US" sz="2200" dirty="0"/>
          </a:p>
        </p:txBody>
      </p:sp>
      <p:sp>
        <p:nvSpPr>
          <p:cNvPr id="7" name="Text 13"/>
          <p:cNvSpPr/>
          <p:nvPr/>
        </p:nvSpPr>
        <p:spPr>
          <a:xfrm>
            <a:off x="7360920" y="4206240"/>
            <a:ext cx="1143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Vorsprung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Eigenbau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6B0A0A"/>
          </a:solidFill>
          <a:ln w="12700">
            <a:solidFill>
              <a:srgbClr val="6B0A0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Fazit &amp; Ausblick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914400" cy="36576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Zusammenfassung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Projekt zur Modernisierung der Pizzeria Vesuv hat Reservierungs- und Abrechnungssysteme erfolgreich integriert und eine robuste C#-Anwendung mit SQL-Datenbankanbindung geschaffen.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08483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Nächste Schritte &amp; Potenziale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2606040" cy="141732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2606040" cy="64008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475488" y="25786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" y="29992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Web-App Entwicklung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" y="33649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Benutzerfreundliche Web-Anwendung für Gäste &amp; Personal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2514600"/>
            <a:ext cx="2606040" cy="141732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6" name="Shape 14"/>
          <p:cNvSpPr/>
          <p:nvPr/>
        </p:nvSpPr>
        <p:spPr>
          <a:xfrm>
            <a:off x="3200400" y="2514600"/>
            <a:ext cx="2606040" cy="64008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3310128" y="25786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10128" y="29992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Umsatzanalysen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10128" y="33649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Monatliche &amp; wöchentliche Umsatzanalyse und -prognose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2514600"/>
            <a:ext cx="2606040" cy="1417320"/>
          </a:xfrm>
          <a:prstGeom prst="rect">
            <a:avLst/>
          </a:prstGeom>
          <a:solidFill>
            <a:srgbClr val="1A0808"/>
          </a:solidFill>
          <a:ln w="12700">
            <a:solidFill>
              <a:srgbClr val="5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>
            <a:off x="6035040" y="2514600"/>
            <a:ext cx="2606040" cy="64008"/>
          </a:xfrm>
          <a:prstGeom prst="rect">
            <a:avLst/>
          </a:prstGeom>
          <a:solidFill>
            <a:srgbClr val="C41A1A"/>
          </a:solidFill>
          <a:ln w="12700">
            <a:solidFill>
              <a:srgbClr val="C4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6144768" y="25786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44768" y="29992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Systemoptimierung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44768" y="33649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Kontinuierliche Verbesserung basierend auf Nutzer-Feedback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114800"/>
            <a:ext cx="8412480" cy="749808"/>
          </a:xfrm>
          <a:prstGeom prst="rect">
            <a:avLst/>
          </a:prstGeom>
          <a:solidFill>
            <a:srgbClr val="6B0A0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457200" y="413308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A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Fragen &amp; Diskussion  —  Wir stehen Ihnen gerne zur Verfügung.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732520" y="48920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743</Words>
  <Application>Microsoft Office PowerPoint</Application>
  <PresentationFormat>On-screen Show (16:9)</PresentationFormat>
  <Paragraphs>265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Pizzeria Vesuv</dc:title>
  <dc:subject>PptxGenJS Presentation</dc:subject>
  <dc:creator>PptxGenJS</dc:creator>
  <cp:lastModifiedBy>zana hasan</cp:lastModifiedBy>
  <cp:revision>2</cp:revision>
  <dcterms:created xsi:type="dcterms:W3CDTF">2026-03-13T21:37:05Z</dcterms:created>
  <dcterms:modified xsi:type="dcterms:W3CDTF">2026-03-13T21:41:05Z</dcterms:modified>
</cp:coreProperties>
</file>